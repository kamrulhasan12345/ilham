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Ilham is a hadith study platform built on PostgreSQL. The data model splits into two layers: a read-only corpus of hadith texts and narrator/isnad reference data, and a read-write application layer for teaching — users, circles, assignments, review. The whole app depends on the corpus through just four foreign keys, all into the hadiths table. This deck walks the model in Chen notation, layer by layer. Staging tables (used only during ETL load) and derived views are omitted.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for everything that follows. CORPUS (blue) is ETL-loaded then frozen — the app never writes to it. APP (green) holds every runtime write: users, circles, progress, reviews. The only bridge between them is four foreign keys, all pointing into hadiths (shown red). audit_log stands alone — it's keyed by table_name plus row_key text and soft-references users, so there's no enforced FK to draw. Talk to the boxes; don't read them. Detail comes in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text is a clean three-level hierarchy: collections have chapters, chapters have hadiths — and a collection also links straight to hadiths, since some hadiths sit outside any chapter. hadiths is the center of gravity, carrying plain and diacritic text, the matn, and a sanad count. Subjects and translations hang off hadiths many-to-one: a hadith has many subject tags and many language translations. Attributes shown are just the identifying ones; full column lists live in the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scholarly heart — the chain of transmission. isnad_links is the junction modeling each narrator's position in a hadith's chain, with a composite key of hadith, sanad number, and position. hadith_mentions captures narrators named in the text but not part of the formal chain. The rank machinery is the subtle part: narrators carry two independent gradings — Ibn Hajar and Dhahabi — both resolving to rank_levels, and rank_map normalizes messy raw rank strings. This is the part that makes it a hadith database and not a generic CMS.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teaches whom, and what gets assigned. users is the hub — one table, role-flagged teacher or student. circles are classes; enrollments is the many-to-many of students to circles. study_sets are user-owned hadith collections, and set_items is their many-to-many to hadiths — this is the first cross-layer link, picks, shown red. assignments tie a set to a circle with a due date; assignment_targets fan the assignment out to individual students with a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runtime activity — and where the app leans hardest on the corpus. progress tracks per-student, per-hadith mastery. review_sessions and review_items model spaced-review runs, items carrying a result. notes are user annotations on a hadith. student_stats is a denormalized rollup — mastered_count and so on — for fast dashboards. Three of the four cross-layer foreign keys live on this slide: progress, review_items, and notes all point into hadiths.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a DBMS examiner tends to probe. Layer split: different write patterns, independent rebuild. Soft FK on audit_log: it's generic across tables. Dual rank columns: faithful to genuine scholarly disagreement. Composite PKs: these are bridge tables where the natural key is the right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two layers, 23 tables, bridged by exactly four foreign keys into hadiths. The design keeps reference data and user activity cleanly separable.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B26"/>
        </a:solidFill>
      </p:bgPr>
    </p:bg>
    <p:spTree>
      <p:nvGrpSpPr>
        <p:cNvPr id="1" name=""/>
        <p:cNvGrpSpPr/>
        <p:nvPr/>
      </p:nvGrpSpPr>
      <p:grpSpPr>
        <a:xfrm>
          <a:off x="0" y="0"/>
          <a:ext cx="0" cy="0"/>
          <a:chOff x="0" y="0"/>
          <a:chExt cx="0" cy="0"/>
        </a:xfrm>
      </p:grpSpPr>
      <p:sp>
        <p:nvSpPr>
          <p:cNvPr id="2" name="Shape 0"/>
          <p:cNvSpPr/>
          <p:nvPr/>
        </p:nvSpPr>
        <p:spPr>
          <a:xfrm>
            <a:off x="9509760" y="640080"/>
            <a:ext cx="2011680" cy="2011680"/>
          </a:xfrm>
          <a:prstGeom prst="diamond">
            <a:avLst/>
          </a:prstGeom>
          <a:solidFill>
            <a:srgbClr val="221A2E"/>
          </a:solidFill>
          <a:ln w="19050">
            <a:solidFill>
              <a:srgbClr val="FF6B81"/>
            </a:solidFill>
            <a:prstDash val="solid"/>
          </a:ln>
        </p:spPr>
      </p:sp>
      <p:sp>
        <p:nvSpPr>
          <p:cNvPr id="3" name="Shape 1"/>
          <p:cNvSpPr/>
          <p:nvPr/>
        </p:nvSpPr>
        <p:spPr>
          <a:xfrm>
            <a:off x="10058400" y="3931920"/>
            <a:ext cx="1371600" cy="1371600"/>
          </a:xfrm>
          <a:prstGeom prst="diamond">
            <a:avLst/>
          </a:prstGeom>
          <a:solidFill>
            <a:srgbClr val="2A2312"/>
          </a:solidFill>
          <a:ln w="15875">
            <a:solidFill>
              <a:srgbClr val="F0A93B"/>
            </a:solidFill>
            <a:prstDash val="solid"/>
          </a:ln>
        </p:spPr>
      </p:sp>
      <p:sp>
        <p:nvSpPr>
          <p:cNvPr id="4" name="Shape 2"/>
          <p:cNvSpPr/>
          <p:nvPr/>
        </p:nvSpPr>
        <p:spPr>
          <a:xfrm>
            <a:off x="822960" y="1874520"/>
            <a:ext cx="1828800" cy="822960"/>
          </a:xfrm>
          <a:prstGeom prst="rect">
            <a:avLst/>
          </a:prstGeom>
          <a:solidFill>
            <a:srgbClr val="1E2740"/>
          </a:solidFill>
          <a:ln w="19050">
            <a:solidFill>
              <a:srgbClr val="6FA8FF"/>
            </a:solidFill>
            <a:prstDash val="solid"/>
          </a:ln>
        </p:spPr>
      </p:sp>
      <p:sp>
        <p:nvSpPr>
          <p:cNvPr id="5" name="Text 3"/>
          <p:cNvSpPr/>
          <p:nvPr/>
        </p:nvSpPr>
        <p:spPr>
          <a:xfrm>
            <a:off x="822960" y="1965960"/>
            <a:ext cx="5486400" cy="640080"/>
          </a:xfrm>
          <a:prstGeom prst="rect">
            <a:avLst/>
          </a:prstGeom>
          <a:noFill/>
          <a:ln/>
        </p:spPr>
        <p:txBody>
          <a:bodyPr wrap="square" lIns="1524" tIns="1524" rIns="1524" bIns="1524" rtlCol="0" anchor="ctr"/>
          <a:lstStyle/>
          <a:p>
            <a:pPr algn="l" indent="0" marL="0">
              <a:buNone/>
            </a:pPr>
            <a:r>
              <a:rPr lang="en-US" sz="1500" b="1" dirty="0">
                <a:solidFill>
                  <a:srgbClr val="6FA8FF"/>
                </a:solidFill>
                <a:latin typeface="Courier New" pitchFamily="34" charset="0"/>
                <a:ea typeface="Courier New" pitchFamily="34" charset="-122"/>
                <a:cs typeface="Courier New" pitchFamily="34" charset="-120"/>
              </a:rPr>
              <a:t>ILHAM</a:t>
            </a:r>
            <a:endParaRPr lang="en-US" sz="1500" dirty="0"/>
          </a:p>
        </p:txBody>
      </p:sp>
      <p:sp>
        <p:nvSpPr>
          <p:cNvPr id="6" name="Text 4"/>
          <p:cNvSpPr/>
          <p:nvPr/>
        </p:nvSpPr>
        <p:spPr>
          <a:xfrm>
            <a:off x="777240" y="2788920"/>
            <a:ext cx="8686800" cy="914400"/>
          </a:xfrm>
          <a:prstGeom prst="rect">
            <a:avLst/>
          </a:prstGeom>
          <a:noFill/>
          <a:ln/>
        </p:spPr>
        <p:txBody>
          <a:bodyPr wrap="square" lIns="0" tIns="0" rIns="0" bIns="0" rtlCol="0" anchor="ctr"/>
          <a:lstStyle/>
          <a:p>
            <a:pPr algn="l" indent="0" marL="0">
              <a:buNone/>
            </a:pPr>
            <a:r>
              <a:rPr lang="en-US" sz="4400" b="1" dirty="0">
                <a:solidFill>
                  <a:srgbClr val="C0CAF5"/>
                </a:solidFill>
                <a:latin typeface="Calibri" pitchFamily="34" charset="0"/>
                <a:ea typeface="Calibri" pitchFamily="34" charset="-122"/>
                <a:cs typeface="Calibri" pitchFamily="34" charset="-120"/>
              </a:rPr>
              <a:t>Hadith Study Platform</a:t>
            </a:r>
            <a:endParaRPr lang="en-US" sz="4400" dirty="0"/>
          </a:p>
        </p:txBody>
      </p:sp>
      <p:sp>
        <p:nvSpPr>
          <p:cNvPr id="7" name="Text 5"/>
          <p:cNvSpPr/>
          <p:nvPr/>
        </p:nvSpPr>
        <p:spPr>
          <a:xfrm>
            <a:off x="822960" y="3703320"/>
            <a:ext cx="8686800" cy="457200"/>
          </a:xfrm>
          <a:prstGeom prst="rect">
            <a:avLst/>
          </a:prstGeom>
          <a:noFill/>
          <a:ln/>
        </p:spPr>
        <p:txBody>
          <a:bodyPr wrap="square" lIns="0" tIns="0" rIns="0" bIns="0" rtlCol="0" anchor="ctr"/>
          <a:lstStyle/>
          <a:p>
            <a:pPr algn="l" indent="0" marL="0">
              <a:buNone/>
            </a:pPr>
            <a:r>
              <a:rPr lang="en-US" sz="1600" dirty="0">
                <a:solidFill>
                  <a:srgbClr val="5FD68A"/>
                </a:solidFill>
                <a:latin typeface="Courier New" pitchFamily="34" charset="0"/>
                <a:ea typeface="Courier New" pitchFamily="34" charset="-122"/>
                <a:cs typeface="Courier New" pitchFamily="34" charset="-120"/>
              </a:rPr>
              <a:t>Database Design — Entity-Relationship Model</a:t>
            </a:r>
            <a:endParaRPr lang="en-US" sz="1600" dirty="0"/>
          </a:p>
        </p:txBody>
      </p:sp>
      <p:sp>
        <p:nvSpPr>
          <p:cNvPr id="8" name="Text 6"/>
          <p:cNvSpPr/>
          <p:nvPr/>
        </p:nvSpPr>
        <p:spPr>
          <a:xfrm>
            <a:off x="822960" y="4343400"/>
            <a:ext cx="7863840" cy="822960"/>
          </a:xfrm>
          <a:prstGeom prst="rect">
            <a:avLst/>
          </a:prstGeom>
          <a:noFill/>
          <a:ln/>
        </p:spPr>
        <p:txBody>
          <a:bodyPr wrap="square" lIns="0" tIns="0" rIns="0" bIns="0" rtlCol="0" anchor="ctr"/>
          <a:lstStyle/>
          <a:p>
            <a:pPr algn="l" indent="0" marL="0">
              <a:buNone/>
            </a:pPr>
            <a:r>
              <a:rPr lang="en-US" sz="1500" dirty="0">
                <a:solidFill>
                  <a:srgbClr val="8A93B8"/>
                </a:solidFill>
                <a:latin typeface="Calibri" pitchFamily="34" charset="0"/>
                <a:ea typeface="Calibri" pitchFamily="34" charset="-122"/>
                <a:cs typeface="Calibri" pitchFamily="34" charset="-120"/>
              </a:rPr>
              <a:t>A two-layer PostgreSQL schema: a read-only hadith corpus and a read-write teaching application, joined at a single dependency surface.</a:t>
            </a:r>
            <a:endParaRPr lang="en-US" sz="1500" dirty="0"/>
          </a:p>
        </p:txBody>
      </p:sp>
      <p:sp>
        <p:nvSpPr>
          <p:cNvPr id="9" name="Text 7"/>
          <p:cNvSpPr/>
          <p:nvPr/>
        </p:nvSpPr>
        <p:spPr>
          <a:xfrm>
            <a:off x="822960" y="5943600"/>
            <a:ext cx="8229600" cy="365760"/>
          </a:xfrm>
          <a:prstGeom prst="rect">
            <a:avLst/>
          </a:prstGeom>
          <a:noFill/>
          <a:ln/>
        </p:spPr>
        <p:txBody>
          <a:bodyPr wrap="square" lIns="0" tIns="0" rIns="0" bIns="0" rtlCol="0" anchor="ctr"/>
          <a:lstStyle/>
          <a:p>
            <a:pPr algn="l" indent="0" marL="0">
              <a:buNone/>
            </a:pPr>
            <a:r>
              <a:rPr lang="en-US" sz="1200" dirty="0">
                <a:solidFill>
                  <a:srgbClr val="8A93B8"/>
                </a:solidFill>
                <a:latin typeface="Courier New" pitchFamily="34" charset="0"/>
                <a:ea typeface="Courier New" pitchFamily="34" charset="-122"/>
                <a:cs typeface="Courier New" pitchFamily="34" charset="-120"/>
              </a:rPr>
              <a:t>Chen notation  ·  23 tables  ·  staging layer omitted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48640" y="320040"/>
            <a:ext cx="5486400" cy="320040"/>
          </a:xfrm>
          <a:prstGeom prst="rect">
            <a:avLst/>
          </a:prstGeom>
          <a:noFill/>
          <a:ln/>
        </p:spPr>
        <p:txBody>
          <a:bodyPr wrap="square" lIns="0" tIns="0" rIns="0" bIns="0" rtlCol="0" anchor="ctr"/>
          <a:lstStyle/>
          <a:p>
            <a:pPr algn="l" indent="0" marL="0">
              <a:buNone/>
            </a:pPr>
            <a:r>
              <a:rPr lang="en-US" sz="1300" spc="200" kern="0" dirty="0">
                <a:solidFill>
                  <a:srgbClr val="C0CAF5"/>
                </a:solidFill>
                <a:latin typeface="Courier New" pitchFamily="34" charset="0"/>
                <a:ea typeface="Courier New" pitchFamily="34" charset="-122"/>
                <a:cs typeface="Courier New" pitchFamily="34" charset="-120"/>
              </a:rPr>
              <a:t>ARCHITECTURE</a:t>
            </a:r>
            <a:endParaRPr lang="en-US" sz="1300" dirty="0"/>
          </a:p>
        </p:txBody>
      </p:sp>
      <p:sp>
        <p:nvSpPr>
          <p:cNvPr id="3" name="Text 1"/>
          <p:cNvSpPr/>
          <p:nvPr/>
        </p:nvSpPr>
        <p:spPr>
          <a:xfrm>
            <a:off x="530352" y="603504"/>
            <a:ext cx="10058400" cy="640080"/>
          </a:xfrm>
          <a:prstGeom prst="rect">
            <a:avLst/>
          </a:prstGeom>
          <a:noFill/>
          <a:ln/>
        </p:spPr>
        <p:txBody>
          <a:bodyPr wrap="square" lIns="0" tIns="0" rIns="0" bIns="0" rtlCol="0" anchor="ctr"/>
          <a:lstStyle/>
          <a:p>
            <a:pPr algn="l" indent="0" marL="0">
              <a:buNone/>
            </a:pPr>
            <a:r>
              <a:rPr lang="en-US" sz="3200" b="1" dirty="0">
                <a:solidFill>
                  <a:srgbClr val="C0CAF5"/>
                </a:solidFill>
                <a:latin typeface="Calibri" pitchFamily="34" charset="0"/>
                <a:ea typeface="Calibri" pitchFamily="34" charset="-122"/>
                <a:cs typeface="Calibri" pitchFamily="34" charset="-120"/>
              </a:rPr>
              <a:t>Two Schemas, One Spine</a:t>
            </a:r>
            <a:endParaRPr lang="en-US" sz="3200" dirty="0"/>
          </a:p>
        </p:txBody>
      </p:sp>
      <p:sp>
        <p:nvSpPr>
          <p:cNvPr id="4" name="Shape 2"/>
          <p:cNvSpPr/>
          <p:nvPr/>
        </p:nvSpPr>
        <p:spPr>
          <a:xfrm>
            <a:off x="457200" y="1371600"/>
            <a:ext cx="11274552" cy="4709160"/>
          </a:xfrm>
          <a:prstGeom prst="roundRect">
            <a:avLst>
              <a:gd name="adj" fmla="val 1553"/>
            </a:avLst>
          </a:prstGeom>
          <a:solidFill>
            <a:srgbClr val="12131C"/>
          </a:solidFill>
          <a:ln w="12700">
            <a:solidFill>
              <a:srgbClr val="2A2C3D"/>
            </a:solidFill>
            <a:prstDash val="solid"/>
          </a:ln>
        </p:spPr>
      </p:sp>
      <p:pic>
        <p:nvPicPr>
          <p:cNvPr id="5" name="Image 0" descr="s1_overview_hi.png">    </p:cNvPr>
          <p:cNvPicPr>
            <a:picLocks noChangeAspect="1"/>
          </p:cNvPicPr>
          <p:nvPr/>
        </p:nvPicPr>
        <p:blipFill>
          <a:blip r:embed="rId1"/>
          <a:stretch>
            <a:fillRect/>
          </a:stretch>
        </p:blipFill>
        <p:spPr>
          <a:xfrm>
            <a:off x="640080" y="1839154"/>
            <a:ext cx="10908792" cy="3774051"/>
          </a:xfrm>
          <a:prstGeom prst="rect">
            <a:avLst/>
          </a:prstGeom>
        </p:spPr>
      </p:pic>
      <p:sp>
        <p:nvSpPr>
          <p:cNvPr id="6" name="Shape 3"/>
          <p:cNvSpPr/>
          <p:nvPr/>
        </p:nvSpPr>
        <p:spPr>
          <a:xfrm>
            <a:off x="548640" y="6400800"/>
            <a:ext cx="201168" cy="201168"/>
          </a:xfrm>
          <a:prstGeom prst="rect">
            <a:avLst/>
          </a:prstGeom>
          <a:solidFill>
            <a:srgbClr val="6FA8FF"/>
          </a:solidFill>
          <a:ln/>
        </p:spPr>
      </p:sp>
      <p:sp>
        <p:nvSpPr>
          <p:cNvPr id="7" name="Text 4"/>
          <p:cNvSpPr/>
          <p:nvPr/>
        </p:nvSpPr>
        <p:spPr>
          <a:xfrm>
            <a:off x="822960" y="6355080"/>
            <a:ext cx="86868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corpus</a:t>
            </a:r>
            <a:endParaRPr lang="en-US" sz="1050" dirty="0"/>
          </a:p>
        </p:txBody>
      </p:sp>
      <p:sp>
        <p:nvSpPr>
          <p:cNvPr id="8" name="Shape 5"/>
          <p:cNvSpPr/>
          <p:nvPr/>
        </p:nvSpPr>
        <p:spPr>
          <a:xfrm>
            <a:off x="1874520" y="6400800"/>
            <a:ext cx="201168" cy="201168"/>
          </a:xfrm>
          <a:prstGeom prst="rect">
            <a:avLst/>
          </a:prstGeom>
          <a:solidFill>
            <a:srgbClr val="5FD68A"/>
          </a:solidFill>
          <a:ln/>
        </p:spPr>
      </p:sp>
      <p:sp>
        <p:nvSpPr>
          <p:cNvPr id="9" name="Text 6"/>
          <p:cNvSpPr/>
          <p:nvPr/>
        </p:nvSpPr>
        <p:spPr>
          <a:xfrm>
            <a:off x="2148840" y="6355080"/>
            <a:ext cx="5029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app</a:t>
            </a:r>
            <a:endParaRPr lang="en-US" sz="1050" dirty="0"/>
          </a:p>
        </p:txBody>
      </p:sp>
      <p:sp>
        <p:nvSpPr>
          <p:cNvPr id="10" name="Shape 7"/>
          <p:cNvSpPr/>
          <p:nvPr/>
        </p:nvSpPr>
        <p:spPr>
          <a:xfrm>
            <a:off x="2788920" y="6400800"/>
            <a:ext cx="201168" cy="201168"/>
          </a:xfrm>
          <a:prstGeom prst="diamond">
            <a:avLst/>
          </a:prstGeom>
          <a:solidFill>
            <a:srgbClr val="F0A93B"/>
          </a:solidFill>
          <a:ln/>
        </p:spPr>
      </p:sp>
      <p:sp>
        <p:nvSpPr>
          <p:cNvPr id="11" name="Text 8"/>
          <p:cNvSpPr/>
          <p:nvPr/>
        </p:nvSpPr>
        <p:spPr>
          <a:xfrm>
            <a:off x="3063240" y="6355080"/>
            <a:ext cx="14173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relationship</a:t>
            </a:r>
            <a:endParaRPr lang="en-US" sz="1050" dirty="0"/>
          </a:p>
        </p:txBody>
      </p:sp>
      <p:sp>
        <p:nvSpPr>
          <p:cNvPr id="12" name="Shape 9"/>
          <p:cNvSpPr/>
          <p:nvPr/>
        </p:nvSpPr>
        <p:spPr>
          <a:xfrm>
            <a:off x="4617720" y="6400800"/>
            <a:ext cx="201168" cy="201168"/>
          </a:xfrm>
          <a:prstGeom prst="diamond">
            <a:avLst/>
          </a:prstGeom>
          <a:solidFill>
            <a:srgbClr val="FF6B81"/>
          </a:solidFill>
          <a:ln/>
        </p:spPr>
      </p:sp>
      <p:sp>
        <p:nvSpPr>
          <p:cNvPr id="13" name="Text 10"/>
          <p:cNvSpPr/>
          <p:nvPr/>
        </p:nvSpPr>
        <p:spPr>
          <a:xfrm>
            <a:off x="4892040" y="6355080"/>
            <a:ext cx="160020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cross-layer FK</a:t>
            </a:r>
            <a:endParaRPr lang="en-US" sz="1050" dirty="0"/>
          </a:p>
        </p:txBody>
      </p:sp>
      <p:sp>
        <p:nvSpPr>
          <p:cNvPr id="14" name="Shape 11"/>
          <p:cNvSpPr/>
          <p:nvPr/>
        </p:nvSpPr>
        <p:spPr>
          <a:xfrm>
            <a:off x="6629400" y="6400800"/>
            <a:ext cx="201168" cy="201168"/>
          </a:xfrm>
          <a:prstGeom prst="ellipse">
            <a:avLst/>
          </a:prstGeom>
          <a:solidFill>
            <a:srgbClr val="B49CE0"/>
          </a:solidFill>
          <a:ln/>
        </p:spPr>
      </p:sp>
      <p:sp>
        <p:nvSpPr>
          <p:cNvPr id="15" name="Text 12"/>
          <p:cNvSpPr/>
          <p:nvPr/>
        </p:nvSpPr>
        <p:spPr>
          <a:xfrm>
            <a:off x="6903720" y="6355080"/>
            <a:ext cx="109728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attribute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48640" y="320040"/>
            <a:ext cx="5486400" cy="320040"/>
          </a:xfrm>
          <a:prstGeom prst="rect">
            <a:avLst/>
          </a:prstGeom>
          <a:noFill/>
          <a:ln/>
        </p:spPr>
        <p:txBody>
          <a:bodyPr wrap="square" lIns="0" tIns="0" rIns="0" bIns="0" rtlCol="0" anchor="ctr"/>
          <a:lstStyle/>
          <a:p>
            <a:pPr algn="l" indent="0" marL="0">
              <a:buNone/>
            </a:pPr>
            <a:r>
              <a:rPr lang="en-US" sz="1300" spc="200" kern="0" dirty="0">
                <a:solidFill>
                  <a:srgbClr val="6FA8FF"/>
                </a:solidFill>
                <a:latin typeface="Courier New" pitchFamily="34" charset="0"/>
                <a:ea typeface="Courier New" pitchFamily="34" charset="-122"/>
                <a:cs typeface="Courier New" pitchFamily="34" charset="-120"/>
              </a:rPr>
              <a:t>CORPUS</a:t>
            </a:r>
            <a:endParaRPr lang="en-US" sz="1300" dirty="0"/>
          </a:p>
        </p:txBody>
      </p:sp>
      <p:sp>
        <p:nvSpPr>
          <p:cNvPr id="3" name="Text 1"/>
          <p:cNvSpPr/>
          <p:nvPr/>
        </p:nvSpPr>
        <p:spPr>
          <a:xfrm>
            <a:off x="530352" y="603504"/>
            <a:ext cx="10058400" cy="640080"/>
          </a:xfrm>
          <a:prstGeom prst="rect">
            <a:avLst/>
          </a:prstGeom>
          <a:noFill/>
          <a:ln/>
        </p:spPr>
        <p:txBody>
          <a:bodyPr wrap="square" lIns="0" tIns="0" rIns="0" bIns="0" rtlCol="0" anchor="ctr"/>
          <a:lstStyle/>
          <a:p>
            <a:pPr algn="l" indent="0" marL="0">
              <a:buNone/>
            </a:pPr>
            <a:r>
              <a:rPr lang="en-US" sz="3200" b="1" dirty="0">
                <a:solidFill>
                  <a:srgbClr val="C0CAF5"/>
                </a:solidFill>
                <a:latin typeface="Calibri" pitchFamily="34" charset="0"/>
                <a:ea typeface="Calibri" pitchFamily="34" charset="-122"/>
                <a:cs typeface="Calibri" pitchFamily="34" charset="-120"/>
              </a:rPr>
              <a:t>The Text Spine</a:t>
            </a:r>
            <a:endParaRPr lang="en-US" sz="3200" dirty="0"/>
          </a:p>
        </p:txBody>
      </p:sp>
      <p:sp>
        <p:nvSpPr>
          <p:cNvPr id="4" name="Shape 2"/>
          <p:cNvSpPr/>
          <p:nvPr/>
        </p:nvSpPr>
        <p:spPr>
          <a:xfrm>
            <a:off x="457200" y="1371600"/>
            <a:ext cx="11274552" cy="4709160"/>
          </a:xfrm>
          <a:prstGeom prst="roundRect">
            <a:avLst>
              <a:gd name="adj" fmla="val 1553"/>
            </a:avLst>
          </a:prstGeom>
          <a:solidFill>
            <a:srgbClr val="12131C"/>
          </a:solidFill>
          <a:ln w="12700">
            <a:solidFill>
              <a:srgbClr val="2A2C3D"/>
            </a:solidFill>
            <a:prstDash val="solid"/>
          </a:ln>
        </p:spPr>
      </p:sp>
      <p:pic>
        <p:nvPicPr>
          <p:cNvPr id="5" name="Image 0" descr="s2_corpus_text_hi.png">    </p:cNvPr>
          <p:cNvPicPr>
            <a:picLocks noChangeAspect="1"/>
          </p:cNvPicPr>
          <p:nvPr/>
        </p:nvPicPr>
        <p:blipFill>
          <a:blip r:embed="rId1"/>
          <a:stretch>
            <a:fillRect/>
          </a:stretch>
        </p:blipFill>
        <p:spPr>
          <a:xfrm>
            <a:off x="1153517" y="1554480"/>
            <a:ext cx="9881918" cy="4343400"/>
          </a:xfrm>
          <a:prstGeom prst="rect">
            <a:avLst/>
          </a:prstGeom>
        </p:spPr>
      </p:pic>
      <p:sp>
        <p:nvSpPr>
          <p:cNvPr id="6" name="Shape 3"/>
          <p:cNvSpPr/>
          <p:nvPr/>
        </p:nvSpPr>
        <p:spPr>
          <a:xfrm>
            <a:off x="548640" y="6400800"/>
            <a:ext cx="201168" cy="201168"/>
          </a:xfrm>
          <a:prstGeom prst="rect">
            <a:avLst/>
          </a:prstGeom>
          <a:solidFill>
            <a:srgbClr val="6FA8FF"/>
          </a:solidFill>
          <a:ln/>
        </p:spPr>
      </p:sp>
      <p:sp>
        <p:nvSpPr>
          <p:cNvPr id="7" name="Text 4"/>
          <p:cNvSpPr/>
          <p:nvPr/>
        </p:nvSpPr>
        <p:spPr>
          <a:xfrm>
            <a:off x="822960" y="6355080"/>
            <a:ext cx="86868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corpus</a:t>
            </a:r>
            <a:endParaRPr lang="en-US" sz="1050" dirty="0"/>
          </a:p>
        </p:txBody>
      </p:sp>
      <p:sp>
        <p:nvSpPr>
          <p:cNvPr id="8" name="Shape 5"/>
          <p:cNvSpPr/>
          <p:nvPr/>
        </p:nvSpPr>
        <p:spPr>
          <a:xfrm>
            <a:off x="1874520" y="6400800"/>
            <a:ext cx="201168" cy="201168"/>
          </a:xfrm>
          <a:prstGeom prst="rect">
            <a:avLst/>
          </a:prstGeom>
          <a:solidFill>
            <a:srgbClr val="5FD68A"/>
          </a:solidFill>
          <a:ln/>
        </p:spPr>
      </p:sp>
      <p:sp>
        <p:nvSpPr>
          <p:cNvPr id="9" name="Text 6"/>
          <p:cNvSpPr/>
          <p:nvPr/>
        </p:nvSpPr>
        <p:spPr>
          <a:xfrm>
            <a:off x="2148840" y="6355080"/>
            <a:ext cx="5029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app</a:t>
            </a:r>
            <a:endParaRPr lang="en-US" sz="1050" dirty="0"/>
          </a:p>
        </p:txBody>
      </p:sp>
      <p:sp>
        <p:nvSpPr>
          <p:cNvPr id="10" name="Shape 7"/>
          <p:cNvSpPr/>
          <p:nvPr/>
        </p:nvSpPr>
        <p:spPr>
          <a:xfrm>
            <a:off x="2788920" y="6400800"/>
            <a:ext cx="201168" cy="201168"/>
          </a:xfrm>
          <a:prstGeom prst="diamond">
            <a:avLst/>
          </a:prstGeom>
          <a:solidFill>
            <a:srgbClr val="F0A93B"/>
          </a:solidFill>
          <a:ln/>
        </p:spPr>
      </p:sp>
      <p:sp>
        <p:nvSpPr>
          <p:cNvPr id="11" name="Text 8"/>
          <p:cNvSpPr/>
          <p:nvPr/>
        </p:nvSpPr>
        <p:spPr>
          <a:xfrm>
            <a:off x="3063240" y="6355080"/>
            <a:ext cx="14173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relationship</a:t>
            </a:r>
            <a:endParaRPr lang="en-US" sz="1050" dirty="0"/>
          </a:p>
        </p:txBody>
      </p:sp>
      <p:sp>
        <p:nvSpPr>
          <p:cNvPr id="12" name="Shape 9"/>
          <p:cNvSpPr/>
          <p:nvPr/>
        </p:nvSpPr>
        <p:spPr>
          <a:xfrm>
            <a:off x="4617720" y="6400800"/>
            <a:ext cx="201168" cy="201168"/>
          </a:xfrm>
          <a:prstGeom prst="diamond">
            <a:avLst/>
          </a:prstGeom>
          <a:solidFill>
            <a:srgbClr val="FF6B81"/>
          </a:solidFill>
          <a:ln/>
        </p:spPr>
      </p:sp>
      <p:sp>
        <p:nvSpPr>
          <p:cNvPr id="13" name="Text 10"/>
          <p:cNvSpPr/>
          <p:nvPr/>
        </p:nvSpPr>
        <p:spPr>
          <a:xfrm>
            <a:off x="4892040" y="6355080"/>
            <a:ext cx="160020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cross-layer FK</a:t>
            </a:r>
            <a:endParaRPr lang="en-US" sz="1050" dirty="0"/>
          </a:p>
        </p:txBody>
      </p:sp>
      <p:sp>
        <p:nvSpPr>
          <p:cNvPr id="14" name="Shape 11"/>
          <p:cNvSpPr/>
          <p:nvPr/>
        </p:nvSpPr>
        <p:spPr>
          <a:xfrm>
            <a:off x="6629400" y="6400800"/>
            <a:ext cx="201168" cy="201168"/>
          </a:xfrm>
          <a:prstGeom prst="ellipse">
            <a:avLst/>
          </a:prstGeom>
          <a:solidFill>
            <a:srgbClr val="B49CE0"/>
          </a:solidFill>
          <a:ln/>
        </p:spPr>
      </p:sp>
      <p:sp>
        <p:nvSpPr>
          <p:cNvPr id="15" name="Text 12"/>
          <p:cNvSpPr/>
          <p:nvPr/>
        </p:nvSpPr>
        <p:spPr>
          <a:xfrm>
            <a:off x="6903720" y="6355080"/>
            <a:ext cx="109728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attribute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48640" y="320040"/>
            <a:ext cx="5486400" cy="320040"/>
          </a:xfrm>
          <a:prstGeom prst="rect">
            <a:avLst/>
          </a:prstGeom>
          <a:noFill/>
          <a:ln/>
        </p:spPr>
        <p:txBody>
          <a:bodyPr wrap="square" lIns="0" tIns="0" rIns="0" bIns="0" rtlCol="0" anchor="ctr"/>
          <a:lstStyle/>
          <a:p>
            <a:pPr algn="l" indent="0" marL="0">
              <a:buNone/>
            </a:pPr>
            <a:r>
              <a:rPr lang="en-US" sz="1300" spc="200" kern="0" dirty="0">
                <a:solidFill>
                  <a:srgbClr val="6FA8FF"/>
                </a:solidFill>
                <a:latin typeface="Courier New" pitchFamily="34" charset="0"/>
                <a:ea typeface="Courier New" pitchFamily="34" charset="-122"/>
                <a:cs typeface="Courier New" pitchFamily="34" charset="-120"/>
              </a:rPr>
              <a:t>CORPUS</a:t>
            </a:r>
            <a:endParaRPr lang="en-US" sz="1300" dirty="0"/>
          </a:p>
        </p:txBody>
      </p:sp>
      <p:sp>
        <p:nvSpPr>
          <p:cNvPr id="3" name="Text 1"/>
          <p:cNvSpPr/>
          <p:nvPr/>
        </p:nvSpPr>
        <p:spPr>
          <a:xfrm>
            <a:off x="530352" y="603504"/>
            <a:ext cx="10058400" cy="640080"/>
          </a:xfrm>
          <a:prstGeom prst="rect">
            <a:avLst/>
          </a:prstGeom>
          <a:noFill/>
          <a:ln/>
        </p:spPr>
        <p:txBody>
          <a:bodyPr wrap="square" lIns="0" tIns="0" rIns="0" bIns="0" rtlCol="0" anchor="ctr"/>
          <a:lstStyle/>
          <a:p>
            <a:pPr algn="l" indent="0" marL="0">
              <a:buNone/>
            </a:pPr>
            <a:r>
              <a:rPr lang="en-US" sz="3200" b="1" dirty="0">
                <a:solidFill>
                  <a:srgbClr val="C0CAF5"/>
                </a:solidFill>
                <a:latin typeface="Calibri" pitchFamily="34" charset="0"/>
                <a:ea typeface="Calibri" pitchFamily="34" charset="-122"/>
                <a:cs typeface="Calibri" pitchFamily="34" charset="-120"/>
              </a:rPr>
              <a:t>Narrators &amp; Isnad Chains</a:t>
            </a:r>
            <a:endParaRPr lang="en-US" sz="3200" dirty="0"/>
          </a:p>
        </p:txBody>
      </p:sp>
      <p:sp>
        <p:nvSpPr>
          <p:cNvPr id="4" name="Shape 2"/>
          <p:cNvSpPr/>
          <p:nvPr/>
        </p:nvSpPr>
        <p:spPr>
          <a:xfrm>
            <a:off x="457200" y="1371600"/>
            <a:ext cx="11274552" cy="4709160"/>
          </a:xfrm>
          <a:prstGeom prst="roundRect">
            <a:avLst>
              <a:gd name="adj" fmla="val 1553"/>
            </a:avLst>
          </a:prstGeom>
          <a:solidFill>
            <a:srgbClr val="12131C"/>
          </a:solidFill>
          <a:ln w="12700">
            <a:solidFill>
              <a:srgbClr val="2A2C3D"/>
            </a:solidFill>
            <a:prstDash val="solid"/>
          </a:ln>
        </p:spPr>
      </p:sp>
      <p:pic>
        <p:nvPicPr>
          <p:cNvPr id="5" name="Image 0" descr="s3_corpus_isnad_hi.png">    </p:cNvPr>
          <p:cNvPicPr>
            <a:picLocks noChangeAspect="1"/>
          </p:cNvPicPr>
          <p:nvPr/>
        </p:nvPicPr>
        <p:blipFill>
          <a:blip r:embed="rId1"/>
          <a:stretch>
            <a:fillRect/>
          </a:stretch>
        </p:blipFill>
        <p:spPr>
          <a:xfrm>
            <a:off x="2210320" y="1554480"/>
            <a:ext cx="7768313" cy="4343400"/>
          </a:xfrm>
          <a:prstGeom prst="rect">
            <a:avLst/>
          </a:prstGeom>
        </p:spPr>
      </p:pic>
      <p:sp>
        <p:nvSpPr>
          <p:cNvPr id="6" name="Shape 3"/>
          <p:cNvSpPr/>
          <p:nvPr/>
        </p:nvSpPr>
        <p:spPr>
          <a:xfrm>
            <a:off x="548640" y="6400800"/>
            <a:ext cx="201168" cy="201168"/>
          </a:xfrm>
          <a:prstGeom prst="rect">
            <a:avLst/>
          </a:prstGeom>
          <a:solidFill>
            <a:srgbClr val="6FA8FF"/>
          </a:solidFill>
          <a:ln/>
        </p:spPr>
      </p:sp>
      <p:sp>
        <p:nvSpPr>
          <p:cNvPr id="7" name="Text 4"/>
          <p:cNvSpPr/>
          <p:nvPr/>
        </p:nvSpPr>
        <p:spPr>
          <a:xfrm>
            <a:off x="822960" y="6355080"/>
            <a:ext cx="86868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corpus</a:t>
            </a:r>
            <a:endParaRPr lang="en-US" sz="1050" dirty="0"/>
          </a:p>
        </p:txBody>
      </p:sp>
      <p:sp>
        <p:nvSpPr>
          <p:cNvPr id="8" name="Shape 5"/>
          <p:cNvSpPr/>
          <p:nvPr/>
        </p:nvSpPr>
        <p:spPr>
          <a:xfrm>
            <a:off x="1874520" y="6400800"/>
            <a:ext cx="201168" cy="201168"/>
          </a:xfrm>
          <a:prstGeom prst="rect">
            <a:avLst/>
          </a:prstGeom>
          <a:solidFill>
            <a:srgbClr val="5FD68A"/>
          </a:solidFill>
          <a:ln/>
        </p:spPr>
      </p:sp>
      <p:sp>
        <p:nvSpPr>
          <p:cNvPr id="9" name="Text 6"/>
          <p:cNvSpPr/>
          <p:nvPr/>
        </p:nvSpPr>
        <p:spPr>
          <a:xfrm>
            <a:off x="2148840" y="6355080"/>
            <a:ext cx="5029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app</a:t>
            </a:r>
            <a:endParaRPr lang="en-US" sz="1050" dirty="0"/>
          </a:p>
        </p:txBody>
      </p:sp>
      <p:sp>
        <p:nvSpPr>
          <p:cNvPr id="10" name="Shape 7"/>
          <p:cNvSpPr/>
          <p:nvPr/>
        </p:nvSpPr>
        <p:spPr>
          <a:xfrm>
            <a:off x="2788920" y="6400800"/>
            <a:ext cx="201168" cy="201168"/>
          </a:xfrm>
          <a:prstGeom prst="diamond">
            <a:avLst/>
          </a:prstGeom>
          <a:solidFill>
            <a:srgbClr val="F0A93B"/>
          </a:solidFill>
          <a:ln/>
        </p:spPr>
      </p:sp>
      <p:sp>
        <p:nvSpPr>
          <p:cNvPr id="11" name="Text 8"/>
          <p:cNvSpPr/>
          <p:nvPr/>
        </p:nvSpPr>
        <p:spPr>
          <a:xfrm>
            <a:off x="3063240" y="6355080"/>
            <a:ext cx="14173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relationship</a:t>
            </a:r>
            <a:endParaRPr lang="en-US" sz="1050" dirty="0"/>
          </a:p>
        </p:txBody>
      </p:sp>
      <p:sp>
        <p:nvSpPr>
          <p:cNvPr id="12" name="Shape 9"/>
          <p:cNvSpPr/>
          <p:nvPr/>
        </p:nvSpPr>
        <p:spPr>
          <a:xfrm>
            <a:off x="4617720" y="6400800"/>
            <a:ext cx="201168" cy="201168"/>
          </a:xfrm>
          <a:prstGeom prst="diamond">
            <a:avLst/>
          </a:prstGeom>
          <a:solidFill>
            <a:srgbClr val="FF6B81"/>
          </a:solidFill>
          <a:ln/>
        </p:spPr>
      </p:sp>
      <p:sp>
        <p:nvSpPr>
          <p:cNvPr id="13" name="Text 10"/>
          <p:cNvSpPr/>
          <p:nvPr/>
        </p:nvSpPr>
        <p:spPr>
          <a:xfrm>
            <a:off x="4892040" y="6355080"/>
            <a:ext cx="160020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cross-layer FK</a:t>
            </a:r>
            <a:endParaRPr lang="en-US" sz="1050" dirty="0"/>
          </a:p>
        </p:txBody>
      </p:sp>
      <p:sp>
        <p:nvSpPr>
          <p:cNvPr id="14" name="Shape 11"/>
          <p:cNvSpPr/>
          <p:nvPr/>
        </p:nvSpPr>
        <p:spPr>
          <a:xfrm>
            <a:off x="6629400" y="6400800"/>
            <a:ext cx="201168" cy="201168"/>
          </a:xfrm>
          <a:prstGeom prst="ellipse">
            <a:avLst/>
          </a:prstGeom>
          <a:solidFill>
            <a:srgbClr val="B49CE0"/>
          </a:solidFill>
          <a:ln/>
        </p:spPr>
      </p:sp>
      <p:sp>
        <p:nvSpPr>
          <p:cNvPr id="15" name="Text 12"/>
          <p:cNvSpPr/>
          <p:nvPr/>
        </p:nvSpPr>
        <p:spPr>
          <a:xfrm>
            <a:off x="6903720" y="6355080"/>
            <a:ext cx="109728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attribute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48640" y="320040"/>
            <a:ext cx="5486400" cy="320040"/>
          </a:xfrm>
          <a:prstGeom prst="rect">
            <a:avLst/>
          </a:prstGeom>
          <a:noFill/>
          <a:ln/>
        </p:spPr>
        <p:txBody>
          <a:bodyPr wrap="square" lIns="0" tIns="0" rIns="0" bIns="0" rtlCol="0" anchor="ctr"/>
          <a:lstStyle/>
          <a:p>
            <a:pPr algn="l" indent="0" marL="0">
              <a:buNone/>
            </a:pPr>
            <a:r>
              <a:rPr lang="en-US" sz="1300" spc="200" kern="0" dirty="0">
                <a:solidFill>
                  <a:srgbClr val="5FD68A"/>
                </a:solidFill>
                <a:latin typeface="Courier New" pitchFamily="34" charset="0"/>
                <a:ea typeface="Courier New" pitchFamily="34" charset="-122"/>
                <a:cs typeface="Courier New" pitchFamily="34" charset="-120"/>
              </a:rPr>
              <a:t>APP</a:t>
            </a:r>
            <a:endParaRPr lang="en-US" sz="1300" dirty="0"/>
          </a:p>
        </p:txBody>
      </p:sp>
      <p:sp>
        <p:nvSpPr>
          <p:cNvPr id="3" name="Text 1"/>
          <p:cNvSpPr/>
          <p:nvPr/>
        </p:nvSpPr>
        <p:spPr>
          <a:xfrm>
            <a:off x="530352" y="603504"/>
            <a:ext cx="10058400" cy="640080"/>
          </a:xfrm>
          <a:prstGeom prst="rect">
            <a:avLst/>
          </a:prstGeom>
          <a:noFill/>
          <a:ln/>
        </p:spPr>
        <p:txBody>
          <a:bodyPr wrap="square" lIns="0" tIns="0" rIns="0" bIns="0" rtlCol="0" anchor="ctr"/>
          <a:lstStyle/>
          <a:p>
            <a:pPr algn="l" indent="0" marL="0">
              <a:buNone/>
            </a:pPr>
            <a:r>
              <a:rPr lang="en-US" sz="3200" b="1" dirty="0">
                <a:solidFill>
                  <a:srgbClr val="C0CAF5"/>
                </a:solidFill>
                <a:latin typeface="Calibri" pitchFamily="34" charset="0"/>
                <a:ea typeface="Calibri" pitchFamily="34" charset="-122"/>
                <a:cs typeface="Calibri" pitchFamily="34" charset="-120"/>
              </a:rPr>
              <a:t>Teaching Structure</a:t>
            </a:r>
            <a:endParaRPr lang="en-US" sz="3200" dirty="0"/>
          </a:p>
        </p:txBody>
      </p:sp>
      <p:sp>
        <p:nvSpPr>
          <p:cNvPr id="4" name="Shape 2"/>
          <p:cNvSpPr/>
          <p:nvPr/>
        </p:nvSpPr>
        <p:spPr>
          <a:xfrm>
            <a:off x="457200" y="1371600"/>
            <a:ext cx="11274552" cy="4709160"/>
          </a:xfrm>
          <a:prstGeom prst="roundRect">
            <a:avLst>
              <a:gd name="adj" fmla="val 1553"/>
            </a:avLst>
          </a:prstGeom>
          <a:solidFill>
            <a:srgbClr val="12131C"/>
          </a:solidFill>
          <a:ln w="12700">
            <a:solidFill>
              <a:srgbClr val="2A2C3D"/>
            </a:solidFill>
            <a:prstDash val="solid"/>
          </a:ln>
        </p:spPr>
      </p:sp>
      <p:pic>
        <p:nvPicPr>
          <p:cNvPr id="5" name="Image 0" descr="s4_app_teaching_hi.png">    </p:cNvPr>
          <p:cNvPicPr>
            <a:picLocks noChangeAspect="1"/>
          </p:cNvPicPr>
          <p:nvPr/>
        </p:nvPicPr>
        <p:blipFill>
          <a:blip r:embed="rId1"/>
          <a:stretch>
            <a:fillRect/>
          </a:stretch>
        </p:blipFill>
        <p:spPr>
          <a:xfrm>
            <a:off x="2353383" y="1554480"/>
            <a:ext cx="7482185" cy="4343400"/>
          </a:xfrm>
          <a:prstGeom prst="rect">
            <a:avLst/>
          </a:prstGeom>
        </p:spPr>
      </p:pic>
      <p:sp>
        <p:nvSpPr>
          <p:cNvPr id="6" name="Shape 3"/>
          <p:cNvSpPr/>
          <p:nvPr/>
        </p:nvSpPr>
        <p:spPr>
          <a:xfrm>
            <a:off x="548640" y="6400800"/>
            <a:ext cx="201168" cy="201168"/>
          </a:xfrm>
          <a:prstGeom prst="rect">
            <a:avLst/>
          </a:prstGeom>
          <a:solidFill>
            <a:srgbClr val="6FA8FF"/>
          </a:solidFill>
          <a:ln/>
        </p:spPr>
      </p:sp>
      <p:sp>
        <p:nvSpPr>
          <p:cNvPr id="7" name="Text 4"/>
          <p:cNvSpPr/>
          <p:nvPr/>
        </p:nvSpPr>
        <p:spPr>
          <a:xfrm>
            <a:off x="822960" y="6355080"/>
            <a:ext cx="86868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corpus</a:t>
            </a:r>
            <a:endParaRPr lang="en-US" sz="1050" dirty="0"/>
          </a:p>
        </p:txBody>
      </p:sp>
      <p:sp>
        <p:nvSpPr>
          <p:cNvPr id="8" name="Shape 5"/>
          <p:cNvSpPr/>
          <p:nvPr/>
        </p:nvSpPr>
        <p:spPr>
          <a:xfrm>
            <a:off x="1874520" y="6400800"/>
            <a:ext cx="201168" cy="201168"/>
          </a:xfrm>
          <a:prstGeom prst="rect">
            <a:avLst/>
          </a:prstGeom>
          <a:solidFill>
            <a:srgbClr val="5FD68A"/>
          </a:solidFill>
          <a:ln/>
        </p:spPr>
      </p:sp>
      <p:sp>
        <p:nvSpPr>
          <p:cNvPr id="9" name="Text 6"/>
          <p:cNvSpPr/>
          <p:nvPr/>
        </p:nvSpPr>
        <p:spPr>
          <a:xfrm>
            <a:off x="2148840" y="6355080"/>
            <a:ext cx="5029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app</a:t>
            </a:r>
            <a:endParaRPr lang="en-US" sz="1050" dirty="0"/>
          </a:p>
        </p:txBody>
      </p:sp>
      <p:sp>
        <p:nvSpPr>
          <p:cNvPr id="10" name="Shape 7"/>
          <p:cNvSpPr/>
          <p:nvPr/>
        </p:nvSpPr>
        <p:spPr>
          <a:xfrm>
            <a:off x="2788920" y="6400800"/>
            <a:ext cx="201168" cy="201168"/>
          </a:xfrm>
          <a:prstGeom prst="diamond">
            <a:avLst/>
          </a:prstGeom>
          <a:solidFill>
            <a:srgbClr val="F0A93B"/>
          </a:solidFill>
          <a:ln/>
        </p:spPr>
      </p:sp>
      <p:sp>
        <p:nvSpPr>
          <p:cNvPr id="11" name="Text 8"/>
          <p:cNvSpPr/>
          <p:nvPr/>
        </p:nvSpPr>
        <p:spPr>
          <a:xfrm>
            <a:off x="3063240" y="6355080"/>
            <a:ext cx="14173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relationship</a:t>
            </a:r>
            <a:endParaRPr lang="en-US" sz="1050" dirty="0"/>
          </a:p>
        </p:txBody>
      </p:sp>
      <p:sp>
        <p:nvSpPr>
          <p:cNvPr id="12" name="Shape 9"/>
          <p:cNvSpPr/>
          <p:nvPr/>
        </p:nvSpPr>
        <p:spPr>
          <a:xfrm>
            <a:off x="4617720" y="6400800"/>
            <a:ext cx="201168" cy="201168"/>
          </a:xfrm>
          <a:prstGeom prst="diamond">
            <a:avLst/>
          </a:prstGeom>
          <a:solidFill>
            <a:srgbClr val="FF6B81"/>
          </a:solidFill>
          <a:ln/>
        </p:spPr>
      </p:sp>
      <p:sp>
        <p:nvSpPr>
          <p:cNvPr id="13" name="Text 10"/>
          <p:cNvSpPr/>
          <p:nvPr/>
        </p:nvSpPr>
        <p:spPr>
          <a:xfrm>
            <a:off x="4892040" y="6355080"/>
            <a:ext cx="160020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cross-layer FK</a:t>
            </a:r>
            <a:endParaRPr lang="en-US" sz="1050" dirty="0"/>
          </a:p>
        </p:txBody>
      </p:sp>
      <p:sp>
        <p:nvSpPr>
          <p:cNvPr id="14" name="Shape 11"/>
          <p:cNvSpPr/>
          <p:nvPr/>
        </p:nvSpPr>
        <p:spPr>
          <a:xfrm>
            <a:off x="6629400" y="6400800"/>
            <a:ext cx="201168" cy="201168"/>
          </a:xfrm>
          <a:prstGeom prst="ellipse">
            <a:avLst/>
          </a:prstGeom>
          <a:solidFill>
            <a:srgbClr val="B49CE0"/>
          </a:solidFill>
          <a:ln/>
        </p:spPr>
      </p:sp>
      <p:sp>
        <p:nvSpPr>
          <p:cNvPr id="15" name="Text 12"/>
          <p:cNvSpPr/>
          <p:nvPr/>
        </p:nvSpPr>
        <p:spPr>
          <a:xfrm>
            <a:off x="6903720" y="6355080"/>
            <a:ext cx="109728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attribute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48640" y="320040"/>
            <a:ext cx="5486400" cy="320040"/>
          </a:xfrm>
          <a:prstGeom prst="rect">
            <a:avLst/>
          </a:prstGeom>
          <a:noFill/>
          <a:ln/>
        </p:spPr>
        <p:txBody>
          <a:bodyPr wrap="square" lIns="0" tIns="0" rIns="0" bIns="0" rtlCol="0" anchor="ctr"/>
          <a:lstStyle/>
          <a:p>
            <a:pPr algn="l" indent="0" marL="0">
              <a:buNone/>
            </a:pPr>
            <a:r>
              <a:rPr lang="en-US" sz="1300" spc="200" kern="0" dirty="0">
                <a:solidFill>
                  <a:srgbClr val="5FD68A"/>
                </a:solidFill>
                <a:latin typeface="Courier New" pitchFamily="34" charset="0"/>
                <a:ea typeface="Courier New" pitchFamily="34" charset="-122"/>
                <a:cs typeface="Courier New" pitchFamily="34" charset="-120"/>
              </a:rPr>
              <a:t>APP</a:t>
            </a:r>
            <a:endParaRPr lang="en-US" sz="1300" dirty="0"/>
          </a:p>
        </p:txBody>
      </p:sp>
      <p:sp>
        <p:nvSpPr>
          <p:cNvPr id="3" name="Text 1"/>
          <p:cNvSpPr/>
          <p:nvPr/>
        </p:nvSpPr>
        <p:spPr>
          <a:xfrm>
            <a:off x="530352" y="603504"/>
            <a:ext cx="10058400" cy="640080"/>
          </a:xfrm>
          <a:prstGeom prst="rect">
            <a:avLst/>
          </a:prstGeom>
          <a:noFill/>
          <a:ln/>
        </p:spPr>
        <p:txBody>
          <a:bodyPr wrap="square" lIns="0" tIns="0" rIns="0" bIns="0" rtlCol="0" anchor="ctr"/>
          <a:lstStyle/>
          <a:p>
            <a:pPr algn="l" indent="0" marL="0">
              <a:buNone/>
            </a:pPr>
            <a:r>
              <a:rPr lang="en-US" sz="3200" b="1" dirty="0">
                <a:solidFill>
                  <a:srgbClr val="C0CAF5"/>
                </a:solidFill>
                <a:latin typeface="Calibri" pitchFamily="34" charset="0"/>
                <a:ea typeface="Calibri" pitchFamily="34" charset="-122"/>
                <a:cs typeface="Calibri" pitchFamily="34" charset="-120"/>
              </a:rPr>
              <a:t>Study &amp; Review Activity</a:t>
            </a:r>
            <a:endParaRPr lang="en-US" sz="3200" dirty="0"/>
          </a:p>
        </p:txBody>
      </p:sp>
      <p:sp>
        <p:nvSpPr>
          <p:cNvPr id="4" name="Shape 2"/>
          <p:cNvSpPr/>
          <p:nvPr/>
        </p:nvSpPr>
        <p:spPr>
          <a:xfrm>
            <a:off x="457200" y="1371600"/>
            <a:ext cx="11274552" cy="4709160"/>
          </a:xfrm>
          <a:prstGeom prst="roundRect">
            <a:avLst>
              <a:gd name="adj" fmla="val 1553"/>
            </a:avLst>
          </a:prstGeom>
          <a:solidFill>
            <a:srgbClr val="12131C"/>
          </a:solidFill>
          <a:ln w="12700">
            <a:solidFill>
              <a:srgbClr val="2A2C3D"/>
            </a:solidFill>
            <a:prstDash val="solid"/>
          </a:ln>
        </p:spPr>
      </p:sp>
      <p:pic>
        <p:nvPicPr>
          <p:cNvPr id="5" name="Image 0" descr="s5_app_activity_hi.png">    </p:cNvPr>
          <p:cNvPicPr>
            <a:picLocks noChangeAspect="1"/>
          </p:cNvPicPr>
          <p:nvPr/>
        </p:nvPicPr>
        <p:blipFill>
          <a:blip r:embed="rId1"/>
          <a:stretch>
            <a:fillRect/>
          </a:stretch>
        </p:blipFill>
        <p:spPr>
          <a:xfrm>
            <a:off x="3721059" y="1554480"/>
            <a:ext cx="4746835" cy="4343400"/>
          </a:xfrm>
          <a:prstGeom prst="rect">
            <a:avLst/>
          </a:prstGeom>
        </p:spPr>
      </p:pic>
      <p:sp>
        <p:nvSpPr>
          <p:cNvPr id="6" name="Shape 3"/>
          <p:cNvSpPr/>
          <p:nvPr/>
        </p:nvSpPr>
        <p:spPr>
          <a:xfrm>
            <a:off x="548640" y="6400800"/>
            <a:ext cx="201168" cy="201168"/>
          </a:xfrm>
          <a:prstGeom prst="rect">
            <a:avLst/>
          </a:prstGeom>
          <a:solidFill>
            <a:srgbClr val="6FA8FF"/>
          </a:solidFill>
          <a:ln/>
        </p:spPr>
      </p:sp>
      <p:sp>
        <p:nvSpPr>
          <p:cNvPr id="7" name="Text 4"/>
          <p:cNvSpPr/>
          <p:nvPr/>
        </p:nvSpPr>
        <p:spPr>
          <a:xfrm>
            <a:off x="822960" y="6355080"/>
            <a:ext cx="86868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corpus</a:t>
            </a:r>
            <a:endParaRPr lang="en-US" sz="1050" dirty="0"/>
          </a:p>
        </p:txBody>
      </p:sp>
      <p:sp>
        <p:nvSpPr>
          <p:cNvPr id="8" name="Shape 5"/>
          <p:cNvSpPr/>
          <p:nvPr/>
        </p:nvSpPr>
        <p:spPr>
          <a:xfrm>
            <a:off x="1874520" y="6400800"/>
            <a:ext cx="201168" cy="201168"/>
          </a:xfrm>
          <a:prstGeom prst="rect">
            <a:avLst/>
          </a:prstGeom>
          <a:solidFill>
            <a:srgbClr val="5FD68A"/>
          </a:solidFill>
          <a:ln/>
        </p:spPr>
      </p:sp>
      <p:sp>
        <p:nvSpPr>
          <p:cNvPr id="9" name="Text 6"/>
          <p:cNvSpPr/>
          <p:nvPr/>
        </p:nvSpPr>
        <p:spPr>
          <a:xfrm>
            <a:off x="2148840" y="6355080"/>
            <a:ext cx="5029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app</a:t>
            </a:r>
            <a:endParaRPr lang="en-US" sz="1050" dirty="0"/>
          </a:p>
        </p:txBody>
      </p:sp>
      <p:sp>
        <p:nvSpPr>
          <p:cNvPr id="10" name="Shape 7"/>
          <p:cNvSpPr/>
          <p:nvPr/>
        </p:nvSpPr>
        <p:spPr>
          <a:xfrm>
            <a:off x="2788920" y="6400800"/>
            <a:ext cx="201168" cy="201168"/>
          </a:xfrm>
          <a:prstGeom prst="diamond">
            <a:avLst/>
          </a:prstGeom>
          <a:solidFill>
            <a:srgbClr val="F0A93B"/>
          </a:solidFill>
          <a:ln/>
        </p:spPr>
      </p:sp>
      <p:sp>
        <p:nvSpPr>
          <p:cNvPr id="11" name="Text 8"/>
          <p:cNvSpPr/>
          <p:nvPr/>
        </p:nvSpPr>
        <p:spPr>
          <a:xfrm>
            <a:off x="3063240" y="6355080"/>
            <a:ext cx="141732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relationship</a:t>
            </a:r>
            <a:endParaRPr lang="en-US" sz="1050" dirty="0"/>
          </a:p>
        </p:txBody>
      </p:sp>
      <p:sp>
        <p:nvSpPr>
          <p:cNvPr id="12" name="Shape 9"/>
          <p:cNvSpPr/>
          <p:nvPr/>
        </p:nvSpPr>
        <p:spPr>
          <a:xfrm>
            <a:off x="4617720" y="6400800"/>
            <a:ext cx="201168" cy="201168"/>
          </a:xfrm>
          <a:prstGeom prst="diamond">
            <a:avLst/>
          </a:prstGeom>
          <a:solidFill>
            <a:srgbClr val="FF6B81"/>
          </a:solidFill>
          <a:ln/>
        </p:spPr>
      </p:sp>
      <p:sp>
        <p:nvSpPr>
          <p:cNvPr id="13" name="Text 10"/>
          <p:cNvSpPr/>
          <p:nvPr/>
        </p:nvSpPr>
        <p:spPr>
          <a:xfrm>
            <a:off x="4892040" y="6355080"/>
            <a:ext cx="160020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cross-layer FK</a:t>
            </a:r>
            <a:endParaRPr lang="en-US" sz="1050" dirty="0"/>
          </a:p>
        </p:txBody>
      </p:sp>
      <p:sp>
        <p:nvSpPr>
          <p:cNvPr id="14" name="Shape 11"/>
          <p:cNvSpPr/>
          <p:nvPr/>
        </p:nvSpPr>
        <p:spPr>
          <a:xfrm>
            <a:off x="6629400" y="6400800"/>
            <a:ext cx="201168" cy="201168"/>
          </a:xfrm>
          <a:prstGeom prst="ellipse">
            <a:avLst/>
          </a:prstGeom>
          <a:solidFill>
            <a:srgbClr val="B49CE0"/>
          </a:solidFill>
          <a:ln/>
        </p:spPr>
      </p:sp>
      <p:sp>
        <p:nvSpPr>
          <p:cNvPr id="15" name="Text 12"/>
          <p:cNvSpPr/>
          <p:nvPr/>
        </p:nvSpPr>
        <p:spPr>
          <a:xfrm>
            <a:off x="6903720" y="6355080"/>
            <a:ext cx="1097280" cy="292608"/>
          </a:xfrm>
          <a:prstGeom prst="rect">
            <a:avLst/>
          </a:prstGeom>
          <a:noFill/>
          <a:ln/>
        </p:spPr>
        <p:txBody>
          <a:bodyPr wrap="square" lIns="0" tIns="0" rIns="0" bIns="0" rtlCol="0" anchor="ctr"/>
          <a:lstStyle/>
          <a:p>
            <a:pPr algn="l" indent="0" marL="0">
              <a:buNone/>
            </a:pPr>
            <a:r>
              <a:rPr lang="en-US" sz="1050" dirty="0">
                <a:solidFill>
                  <a:srgbClr val="8A93B8"/>
                </a:solidFill>
                <a:latin typeface="Courier New" pitchFamily="34" charset="0"/>
                <a:ea typeface="Courier New" pitchFamily="34" charset="-122"/>
                <a:cs typeface="Courier New" pitchFamily="34" charset="-120"/>
              </a:rPr>
              <a:t>attribute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B26"/>
        </a:solidFill>
      </p:bgPr>
    </p:bg>
    <p:spTree>
      <p:nvGrpSpPr>
        <p:cNvPr id="1" name=""/>
        <p:cNvGrpSpPr/>
        <p:nvPr/>
      </p:nvGrpSpPr>
      <p:grpSpPr>
        <a:xfrm>
          <a:off x="0" y="0"/>
          <a:ext cx="0" cy="0"/>
          <a:chOff x="0" y="0"/>
          <a:chExt cx="0" cy="0"/>
        </a:xfrm>
      </p:grpSpPr>
      <p:sp>
        <p:nvSpPr>
          <p:cNvPr id="2" name="Text 0"/>
          <p:cNvSpPr/>
          <p:nvPr/>
        </p:nvSpPr>
        <p:spPr>
          <a:xfrm>
            <a:off x="548640" y="320040"/>
            <a:ext cx="5486400" cy="320040"/>
          </a:xfrm>
          <a:prstGeom prst="rect">
            <a:avLst/>
          </a:prstGeom>
          <a:noFill/>
          <a:ln/>
        </p:spPr>
        <p:txBody>
          <a:bodyPr wrap="square" lIns="0" tIns="0" rIns="0" bIns="0" rtlCol="0" anchor="ctr"/>
          <a:lstStyle/>
          <a:p>
            <a:pPr algn="l" indent="0" marL="0">
              <a:buNone/>
            </a:pPr>
            <a:r>
              <a:rPr lang="en-US" sz="1300" spc="200" kern="0" dirty="0">
                <a:solidFill>
                  <a:srgbClr val="F0A93B"/>
                </a:solidFill>
                <a:latin typeface="Courier New" pitchFamily="34" charset="0"/>
                <a:ea typeface="Courier New" pitchFamily="34" charset="-122"/>
                <a:cs typeface="Courier New" pitchFamily="34" charset="-120"/>
              </a:rPr>
              <a:t>DESIGN NOTES</a:t>
            </a:r>
            <a:endParaRPr lang="en-US" sz="1300" dirty="0"/>
          </a:p>
        </p:txBody>
      </p:sp>
      <p:sp>
        <p:nvSpPr>
          <p:cNvPr id="3" name="Text 1"/>
          <p:cNvSpPr/>
          <p:nvPr/>
        </p:nvSpPr>
        <p:spPr>
          <a:xfrm>
            <a:off x="530352" y="603504"/>
            <a:ext cx="10058400" cy="640080"/>
          </a:xfrm>
          <a:prstGeom prst="rect">
            <a:avLst/>
          </a:prstGeom>
          <a:noFill/>
          <a:ln/>
        </p:spPr>
        <p:txBody>
          <a:bodyPr wrap="square" lIns="0" tIns="0" rIns="0" bIns="0" rtlCol="0" anchor="ctr"/>
          <a:lstStyle/>
          <a:p>
            <a:pPr algn="l" indent="0" marL="0">
              <a:buNone/>
            </a:pPr>
            <a:r>
              <a:rPr lang="en-US" sz="3200" b="1" dirty="0">
                <a:solidFill>
                  <a:srgbClr val="C0CAF5"/>
                </a:solidFill>
                <a:latin typeface="Calibri" pitchFamily="34" charset="0"/>
                <a:ea typeface="Calibri" pitchFamily="34" charset="-122"/>
                <a:cs typeface="Calibri" pitchFamily="34" charset="-120"/>
              </a:rPr>
              <a:t>Decisions Worth Defending</a:t>
            </a:r>
            <a:endParaRPr lang="en-US" sz="3200" dirty="0"/>
          </a:p>
        </p:txBody>
      </p:sp>
      <p:sp>
        <p:nvSpPr>
          <p:cNvPr id="4" name="Shape 2"/>
          <p:cNvSpPr/>
          <p:nvPr/>
        </p:nvSpPr>
        <p:spPr>
          <a:xfrm>
            <a:off x="548640" y="1600200"/>
            <a:ext cx="5285232" cy="2148840"/>
          </a:xfrm>
          <a:prstGeom prst="roundRect">
            <a:avLst>
              <a:gd name="adj" fmla="val 2553"/>
            </a:avLst>
          </a:prstGeom>
          <a:solidFill>
            <a:srgbClr val="12131C"/>
          </a:solidFill>
          <a:ln w="12700">
            <a:solidFill>
              <a:srgbClr val="2A2C3D"/>
            </a:solidFill>
            <a:prstDash val="solid"/>
          </a:ln>
        </p:spPr>
      </p:sp>
      <p:sp>
        <p:nvSpPr>
          <p:cNvPr id="5" name="Shape 3"/>
          <p:cNvSpPr/>
          <p:nvPr/>
        </p:nvSpPr>
        <p:spPr>
          <a:xfrm>
            <a:off x="804672" y="1856232"/>
            <a:ext cx="256032" cy="256032"/>
          </a:xfrm>
          <a:prstGeom prst="diamond">
            <a:avLst/>
          </a:prstGeom>
          <a:solidFill>
            <a:srgbClr val="6FA8FF"/>
          </a:solidFill>
          <a:ln/>
        </p:spPr>
      </p:sp>
      <p:sp>
        <p:nvSpPr>
          <p:cNvPr id="6" name="Text 4"/>
          <p:cNvSpPr/>
          <p:nvPr/>
        </p:nvSpPr>
        <p:spPr>
          <a:xfrm>
            <a:off x="1207008" y="1819656"/>
            <a:ext cx="4389120" cy="50292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Why split corpus / app?</a:t>
            </a:r>
            <a:endParaRPr lang="en-US" sz="1700" dirty="0"/>
          </a:p>
        </p:txBody>
      </p:sp>
      <p:sp>
        <p:nvSpPr>
          <p:cNvPr id="7" name="Text 5"/>
          <p:cNvSpPr/>
          <p:nvPr/>
        </p:nvSpPr>
        <p:spPr>
          <a:xfrm>
            <a:off x="841248" y="2441448"/>
            <a:ext cx="4754880" cy="1188720"/>
          </a:xfrm>
          <a:prstGeom prst="rect">
            <a:avLst/>
          </a:prstGeom>
          <a:noFill/>
          <a:ln/>
        </p:spPr>
        <p:txBody>
          <a:bodyPr wrap="square" lIns="0" tIns="0" rIns="0" bIns="0" rtlCol="0" anchor="t"/>
          <a:lstStyle/>
          <a:p>
            <a:pPr algn="l" indent="0" marL="0">
              <a:lnSpc>
                <a:spcPct val="110000"/>
              </a:lnSpc>
              <a:buNone/>
            </a:pPr>
            <a:r>
              <a:rPr lang="en-US" sz="1350" dirty="0">
                <a:solidFill>
                  <a:srgbClr val="8A93B8"/>
                </a:solidFill>
                <a:latin typeface="Calibri" pitchFamily="34" charset="0"/>
                <a:ea typeface="Calibri" pitchFamily="34" charset="-122"/>
                <a:cs typeface="Calibri" pitchFamily="34" charset="-120"/>
              </a:rPr>
              <a:t>The corpus is bulk-loaded reference data with a completely different write pattern. Separating it lets the corpus be rebuilt or re-versioned without ever touching user data.</a:t>
            </a:r>
            <a:endParaRPr lang="en-US" sz="1350" dirty="0"/>
          </a:p>
        </p:txBody>
      </p:sp>
      <p:sp>
        <p:nvSpPr>
          <p:cNvPr id="8" name="Shape 6"/>
          <p:cNvSpPr/>
          <p:nvPr/>
        </p:nvSpPr>
        <p:spPr>
          <a:xfrm>
            <a:off x="6355080" y="1600200"/>
            <a:ext cx="5285232" cy="2148840"/>
          </a:xfrm>
          <a:prstGeom prst="roundRect">
            <a:avLst>
              <a:gd name="adj" fmla="val 2553"/>
            </a:avLst>
          </a:prstGeom>
          <a:solidFill>
            <a:srgbClr val="12131C"/>
          </a:solidFill>
          <a:ln w="12700">
            <a:solidFill>
              <a:srgbClr val="2A2C3D"/>
            </a:solidFill>
            <a:prstDash val="solid"/>
          </a:ln>
        </p:spPr>
      </p:sp>
      <p:sp>
        <p:nvSpPr>
          <p:cNvPr id="9" name="Shape 7"/>
          <p:cNvSpPr/>
          <p:nvPr/>
        </p:nvSpPr>
        <p:spPr>
          <a:xfrm>
            <a:off x="6611112" y="1856232"/>
            <a:ext cx="256032" cy="256032"/>
          </a:xfrm>
          <a:prstGeom prst="diamond">
            <a:avLst/>
          </a:prstGeom>
          <a:solidFill>
            <a:srgbClr val="5FD68A"/>
          </a:solidFill>
          <a:ln/>
        </p:spPr>
      </p:sp>
      <p:sp>
        <p:nvSpPr>
          <p:cNvPr id="10" name="Text 8"/>
          <p:cNvSpPr/>
          <p:nvPr/>
        </p:nvSpPr>
        <p:spPr>
          <a:xfrm>
            <a:off x="7013448" y="1819656"/>
            <a:ext cx="4389120" cy="50292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Why a soft FK on audit_log?</a:t>
            </a:r>
            <a:endParaRPr lang="en-US" sz="1700" dirty="0"/>
          </a:p>
        </p:txBody>
      </p:sp>
      <p:sp>
        <p:nvSpPr>
          <p:cNvPr id="11" name="Text 9"/>
          <p:cNvSpPr/>
          <p:nvPr/>
        </p:nvSpPr>
        <p:spPr>
          <a:xfrm>
            <a:off x="6647688" y="2441448"/>
            <a:ext cx="4754880" cy="1188720"/>
          </a:xfrm>
          <a:prstGeom prst="rect">
            <a:avLst/>
          </a:prstGeom>
          <a:noFill/>
          <a:ln/>
        </p:spPr>
        <p:txBody>
          <a:bodyPr wrap="square" lIns="0" tIns="0" rIns="0" bIns="0" rtlCol="0" anchor="t"/>
          <a:lstStyle/>
          <a:p>
            <a:pPr algn="l" indent="0" marL="0">
              <a:lnSpc>
                <a:spcPct val="110000"/>
              </a:lnSpc>
              <a:buNone/>
            </a:pPr>
            <a:r>
              <a:rPr lang="en-US" sz="1350" dirty="0">
                <a:solidFill>
                  <a:srgbClr val="8A93B8"/>
                </a:solidFill>
                <a:latin typeface="Calibri" pitchFamily="34" charset="0"/>
                <a:ea typeface="Calibri" pitchFamily="34" charset="-122"/>
                <a:cs typeface="Calibri" pitchFamily="34" charset="-120"/>
              </a:rPr>
              <a:t>It logs changes to ANY table generically, keyed by table_name + row_key. A hard foreign key to one table would defeat the purpose.</a:t>
            </a:r>
            <a:endParaRPr lang="en-US" sz="1350" dirty="0"/>
          </a:p>
        </p:txBody>
      </p:sp>
      <p:sp>
        <p:nvSpPr>
          <p:cNvPr id="12" name="Shape 10"/>
          <p:cNvSpPr/>
          <p:nvPr/>
        </p:nvSpPr>
        <p:spPr>
          <a:xfrm>
            <a:off x="548640" y="3977640"/>
            <a:ext cx="5285232" cy="2148840"/>
          </a:xfrm>
          <a:prstGeom prst="roundRect">
            <a:avLst>
              <a:gd name="adj" fmla="val 2553"/>
            </a:avLst>
          </a:prstGeom>
          <a:solidFill>
            <a:srgbClr val="12131C"/>
          </a:solidFill>
          <a:ln w="12700">
            <a:solidFill>
              <a:srgbClr val="2A2C3D"/>
            </a:solidFill>
            <a:prstDash val="solid"/>
          </a:ln>
        </p:spPr>
      </p:sp>
      <p:sp>
        <p:nvSpPr>
          <p:cNvPr id="13" name="Shape 11"/>
          <p:cNvSpPr/>
          <p:nvPr/>
        </p:nvSpPr>
        <p:spPr>
          <a:xfrm>
            <a:off x="804672" y="4233672"/>
            <a:ext cx="256032" cy="256032"/>
          </a:xfrm>
          <a:prstGeom prst="diamond">
            <a:avLst/>
          </a:prstGeom>
          <a:solidFill>
            <a:srgbClr val="F0A93B"/>
          </a:solidFill>
          <a:ln/>
        </p:spPr>
      </p:sp>
      <p:sp>
        <p:nvSpPr>
          <p:cNvPr id="14" name="Text 12"/>
          <p:cNvSpPr/>
          <p:nvPr/>
        </p:nvSpPr>
        <p:spPr>
          <a:xfrm>
            <a:off x="1207008" y="4197096"/>
            <a:ext cx="4389120" cy="50292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Why two rank columns on narrators?</a:t>
            </a:r>
            <a:endParaRPr lang="en-US" sz="1700" dirty="0"/>
          </a:p>
        </p:txBody>
      </p:sp>
      <p:sp>
        <p:nvSpPr>
          <p:cNvPr id="15" name="Text 13"/>
          <p:cNvSpPr/>
          <p:nvPr/>
        </p:nvSpPr>
        <p:spPr>
          <a:xfrm>
            <a:off x="841248" y="4818888"/>
            <a:ext cx="4754880" cy="1188720"/>
          </a:xfrm>
          <a:prstGeom prst="rect">
            <a:avLst/>
          </a:prstGeom>
          <a:noFill/>
          <a:ln/>
        </p:spPr>
        <p:txBody>
          <a:bodyPr wrap="square" lIns="0" tIns="0" rIns="0" bIns="0" rtlCol="0" anchor="t"/>
          <a:lstStyle/>
          <a:p>
            <a:pPr algn="l" indent="0" marL="0">
              <a:lnSpc>
                <a:spcPct val="110000"/>
              </a:lnSpc>
              <a:buNone/>
            </a:pPr>
            <a:r>
              <a:rPr lang="en-US" sz="1350" dirty="0">
                <a:solidFill>
                  <a:srgbClr val="8A93B8"/>
                </a:solidFill>
                <a:latin typeface="Calibri" pitchFamily="34" charset="0"/>
                <a:ea typeface="Calibri" pitchFamily="34" charset="-122"/>
                <a:cs typeface="Calibri" pitchFamily="34" charset="-120"/>
              </a:rPr>
              <a:t>Classical hadith scholarship genuinely disagrees. Storing both the Ibn Hajar and Dhahabi verdicts is faithful to the sources rather than flattening them.</a:t>
            </a:r>
            <a:endParaRPr lang="en-US" sz="1350" dirty="0"/>
          </a:p>
        </p:txBody>
      </p:sp>
      <p:sp>
        <p:nvSpPr>
          <p:cNvPr id="16" name="Shape 14"/>
          <p:cNvSpPr/>
          <p:nvPr/>
        </p:nvSpPr>
        <p:spPr>
          <a:xfrm>
            <a:off x="6355080" y="3977640"/>
            <a:ext cx="5285232" cy="2148840"/>
          </a:xfrm>
          <a:prstGeom prst="roundRect">
            <a:avLst>
              <a:gd name="adj" fmla="val 2553"/>
            </a:avLst>
          </a:prstGeom>
          <a:solidFill>
            <a:srgbClr val="12131C"/>
          </a:solidFill>
          <a:ln w="12700">
            <a:solidFill>
              <a:srgbClr val="2A2C3D"/>
            </a:solidFill>
            <a:prstDash val="solid"/>
          </a:ln>
        </p:spPr>
      </p:sp>
      <p:sp>
        <p:nvSpPr>
          <p:cNvPr id="17" name="Shape 15"/>
          <p:cNvSpPr/>
          <p:nvPr/>
        </p:nvSpPr>
        <p:spPr>
          <a:xfrm>
            <a:off x="6611112" y="4233672"/>
            <a:ext cx="256032" cy="256032"/>
          </a:xfrm>
          <a:prstGeom prst="diamond">
            <a:avLst/>
          </a:prstGeom>
          <a:solidFill>
            <a:srgbClr val="FF6B81"/>
          </a:solidFill>
          <a:ln/>
        </p:spPr>
      </p:sp>
      <p:sp>
        <p:nvSpPr>
          <p:cNvPr id="18" name="Text 16"/>
          <p:cNvSpPr/>
          <p:nvPr/>
        </p:nvSpPr>
        <p:spPr>
          <a:xfrm>
            <a:off x="7013448" y="4197096"/>
            <a:ext cx="4389120" cy="502920"/>
          </a:xfrm>
          <a:prstGeom prst="rect">
            <a:avLst/>
          </a:prstGeom>
          <a:noFill/>
          <a:ln/>
        </p:spPr>
        <p:txBody>
          <a:bodyPr wrap="square" lIns="0" tIns="0" rIns="0" bIns="0" rtlCol="0" anchor="ctr"/>
          <a:lstStyle/>
          <a:p>
            <a:pPr algn="l" indent="0" marL="0">
              <a:buNone/>
            </a:pPr>
            <a:r>
              <a:rPr lang="en-US" sz="1700" b="1" dirty="0">
                <a:solidFill>
                  <a:srgbClr val="C0CAF5"/>
                </a:solidFill>
                <a:latin typeface="Calibri" pitchFamily="34" charset="0"/>
                <a:ea typeface="Calibri" pitchFamily="34" charset="-122"/>
                <a:cs typeface="Calibri" pitchFamily="34" charset="-120"/>
              </a:rPr>
              <a:t>Why composite primary keys?</a:t>
            </a:r>
            <a:endParaRPr lang="en-US" sz="1700" dirty="0"/>
          </a:p>
        </p:txBody>
      </p:sp>
      <p:sp>
        <p:nvSpPr>
          <p:cNvPr id="19" name="Text 17"/>
          <p:cNvSpPr/>
          <p:nvPr/>
        </p:nvSpPr>
        <p:spPr>
          <a:xfrm>
            <a:off x="6647688" y="4818888"/>
            <a:ext cx="4754880" cy="1188720"/>
          </a:xfrm>
          <a:prstGeom prst="rect">
            <a:avLst/>
          </a:prstGeom>
          <a:noFill/>
          <a:ln/>
        </p:spPr>
        <p:txBody>
          <a:bodyPr wrap="square" lIns="0" tIns="0" rIns="0" bIns="0" rtlCol="0" anchor="t"/>
          <a:lstStyle/>
          <a:p>
            <a:pPr algn="l" indent="0" marL="0">
              <a:lnSpc>
                <a:spcPct val="110000"/>
              </a:lnSpc>
              <a:buNone/>
            </a:pPr>
            <a:r>
              <a:rPr lang="en-US" sz="1350" dirty="0">
                <a:solidFill>
                  <a:srgbClr val="8A93B8"/>
                </a:solidFill>
                <a:latin typeface="Calibri" pitchFamily="34" charset="0"/>
                <a:ea typeface="Calibri" pitchFamily="34" charset="-122"/>
                <a:cs typeface="Calibri" pitchFamily="34" charset="-120"/>
              </a:rPr>
              <a:t>isnad_links, set_items, progress, review_items and enrollments are junction/bridge tables — a natural composite key beats an invented surrogate.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B26"/>
        </a:solidFill>
      </p:bgPr>
    </p:bg>
    <p:spTree>
      <p:nvGrpSpPr>
        <p:cNvPr id="1" name=""/>
        <p:cNvGrpSpPr/>
        <p:nvPr/>
      </p:nvGrpSpPr>
      <p:grpSpPr>
        <a:xfrm>
          <a:off x="0" y="0"/>
          <a:ext cx="0" cy="0"/>
          <a:chOff x="0" y="0"/>
          <a:chExt cx="0" cy="0"/>
        </a:xfrm>
      </p:grpSpPr>
      <p:sp>
        <p:nvSpPr>
          <p:cNvPr id="2" name="Shape 0"/>
          <p:cNvSpPr/>
          <p:nvPr/>
        </p:nvSpPr>
        <p:spPr>
          <a:xfrm>
            <a:off x="5394960" y="1371600"/>
            <a:ext cx="1371600" cy="1371600"/>
          </a:xfrm>
          <a:prstGeom prst="diamond">
            <a:avLst/>
          </a:prstGeom>
          <a:solidFill>
            <a:srgbClr val="221A2E"/>
          </a:solidFill>
          <a:ln w="19050">
            <a:solidFill>
              <a:srgbClr val="FF6B81"/>
            </a:solidFill>
            <a:prstDash val="solid"/>
          </a:ln>
        </p:spPr>
      </p:sp>
      <p:sp>
        <p:nvSpPr>
          <p:cNvPr id="3" name="Text 1"/>
          <p:cNvSpPr/>
          <p:nvPr/>
        </p:nvSpPr>
        <p:spPr>
          <a:xfrm>
            <a:off x="5394960" y="1371600"/>
            <a:ext cx="1371600" cy="1371600"/>
          </a:xfrm>
          <a:prstGeom prst="rect">
            <a:avLst/>
          </a:prstGeom>
          <a:noFill/>
          <a:ln/>
        </p:spPr>
        <p:txBody>
          <a:bodyPr wrap="square" lIns="0" tIns="0" rIns="0" bIns="0" rtlCol="0" anchor="ctr"/>
          <a:lstStyle/>
          <a:p>
            <a:pPr algn="ctr" indent="0" marL="0">
              <a:buNone/>
            </a:pPr>
            <a:r>
              <a:rPr lang="en-US" sz="4000" b="1" dirty="0">
                <a:solidFill>
                  <a:srgbClr val="FF6B81"/>
                </a:solidFill>
                <a:latin typeface="Calibri" pitchFamily="34" charset="0"/>
                <a:ea typeface="Calibri" pitchFamily="34" charset="-122"/>
                <a:cs typeface="Calibri" pitchFamily="34" charset="-120"/>
              </a:rPr>
              <a:t>4</a:t>
            </a:r>
            <a:endParaRPr lang="en-US" sz="4000" dirty="0"/>
          </a:p>
        </p:txBody>
      </p:sp>
      <p:sp>
        <p:nvSpPr>
          <p:cNvPr id="4" name="Text 2"/>
          <p:cNvSpPr/>
          <p:nvPr/>
        </p:nvSpPr>
        <p:spPr>
          <a:xfrm>
            <a:off x="1517904" y="2926080"/>
            <a:ext cx="9144000" cy="457200"/>
          </a:xfrm>
          <a:prstGeom prst="rect">
            <a:avLst/>
          </a:prstGeom>
          <a:noFill/>
          <a:ln/>
        </p:spPr>
        <p:txBody>
          <a:bodyPr wrap="square" lIns="0" tIns="0" rIns="0" bIns="0" rtlCol="0" anchor="ctr"/>
          <a:lstStyle/>
          <a:p>
            <a:pPr algn="ctr" indent="0" marL="0">
              <a:buNone/>
            </a:pPr>
            <a:r>
              <a:rPr lang="en-US" sz="1500" dirty="0">
                <a:solidFill>
                  <a:srgbClr val="8A93B8"/>
                </a:solidFill>
                <a:latin typeface="Courier New" pitchFamily="34" charset="0"/>
                <a:ea typeface="Courier New" pitchFamily="34" charset="-122"/>
                <a:cs typeface="Courier New" pitchFamily="34" charset="-120"/>
              </a:rPr>
              <a:t>foreign keys bridge the two layers — all into hadiths</a:t>
            </a:r>
            <a:endParaRPr lang="en-US" sz="1500" dirty="0"/>
          </a:p>
        </p:txBody>
      </p:sp>
      <p:sp>
        <p:nvSpPr>
          <p:cNvPr id="5" name="Text 3"/>
          <p:cNvSpPr/>
          <p:nvPr/>
        </p:nvSpPr>
        <p:spPr>
          <a:xfrm>
            <a:off x="1517904" y="3794760"/>
            <a:ext cx="9144000" cy="548640"/>
          </a:xfrm>
          <a:prstGeom prst="rect">
            <a:avLst/>
          </a:prstGeom>
          <a:noFill/>
          <a:ln/>
        </p:spPr>
        <p:txBody>
          <a:bodyPr wrap="square" lIns="0" tIns="0" rIns="0" bIns="0" rtlCol="0" anchor="ctr"/>
          <a:lstStyle/>
          <a:p>
            <a:pPr algn="ctr" indent="0" marL="0">
              <a:buNone/>
            </a:pPr>
            <a:r>
              <a:rPr lang="en-US" sz="2600" b="1" dirty="0">
                <a:solidFill>
                  <a:srgbClr val="C0CAF5"/>
                </a:solidFill>
                <a:latin typeface="Calibri" pitchFamily="34" charset="0"/>
                <a:ea typeface="Calibri" pitchFamily="34" charset="-122"/>
                <a:cs typeface="Calibri" pitchFamily="34" charset="-120"/>
              </a:rPr>
              <a:t>10 corpus tables   +   13 app tables</a:t>
            </a:r>
            <a:endParaRPr lang="en-US" sz="2600" dirty="0"/>
          </a:p>
        </p:txBody>
      </p:sp>
      <p:sp>
        <p:nvSpPr>
          <p:cNvPr id="6" name="Text 4"/>
          <p:cNvSpPr/>
          <p:nvPr/>
        </p:nvSpPr>
        <p:spPr>
          <a:xfrm>
            <a:off x="1517904" y="4434840"/>
            <a:ext cx="9144000" cy="457200"/>
          </a:xfrm>
          <a:prstGeom prst="rect">
            <a:avLst/>
          </a:prstGeom>
          <a:noFill/>
          <a:ln/>
        </p:spPr>
        <p:txBody>
          <a:bodyPr wrap="square" lIns="0" tIns="0" rIns="0" bIns="0" rtlCol="0" anchor="ctr"/>
          <a:lstStyle/>
          <a:p>
            <a:pPr algn="ctr" indent="0" marL="0">
              <a:buNone/>
            </a:pPr>
            <a:r>
              <a:rPr lang="en-US" sz="1600" dirty="0">
                <a:solidFill>
                  <a:srgbClr val="8A93B8"/>
                </a:solidFill>
                <a:latin typeface="Calibri" pitchFamily="34" charset="0"/>
                <a:ea typeface="Calibri" pitchFamily="34" charset="-122"/>
                <a:cs typeface="Calibri" pitchFamily="34" charset="-120"/>
              </a:rPr>
              <a:t>one read-only reference spine, one read-write teaching app</a:t>
            </a:r>
            <a:endParaRPr lang="en-US" sz="1600" dirty="0"/>
          </a:p>
        </p:txBody>
      </p:sp>
      <p:sp>
        <p:nvSpPr>
          <p:cNvPr id="7" name="Text 5"/>
          <p:cNvSpPr/>
          <p:nvPr/>
        </p:nvSpPr>
        <p:spPr>
          <a:xfrm>
            <a:off x="1517904" y="5577840"/>
            <a:ext cx="9144000" cy="457200"/>
          </a:xfrm>
          <a:prstGeom prst="rect">
            <a:avLst/>
          </a:prstGeom>
          <a:noFill/>
          <a:ln/>
        </p:spPr>
        <p:txBody>
          <a:bodyPr wrap="square" lIns="0" tIns="0" rIns="0" bIns="0" rtlCol="0" anchor="ctr"/>
          <a:lstStyle/>
          <a:p>
            <a:pPr algn="ctr" indent="0" marL="0">
              <a:buNone/>
            </a:pPr>
            <a:r>
              <a:rPr lang="en-US" sz="1400" dirty="0">
                <a:solidFill>
                  <a:srgbClr val="5FD68A"/>
                </a:solidFill>
                <a:latin typeface="Courier New" pitchFamily="34" charset="0"/>
                <a:ea typeface="Courier New" pitchFamily="34" charset="-122"/>
                <a:cs typeface="Courier New" pitchFamily="34" charset="-120"/>
              </a:rPr>
              <a:t>Thank you  ·  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2026-07-22T06:40:30Z</dcterms:created>
  <dcterms:modified xsi:type="dcterms:W3CDTF">2026-07-22T06:40:30Z</dcterms:modified>
</cp:coreProperties>
</file>